
<file path=[Content_Types].xml><?xml version="1.0" encoding="utf-8"?>
<Types xmlns="http://schemas.openxmlformats.org/package/2006/content-types">
  <Default Extension="10oCL7NdEZz59eMOUfF4" ContentType="image/jpeg"/>
  <Default Extension="d4bF1w" ContentType="image/jpeg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10oCL7NdEZz59eMOUfF4"/><Relationship Id="rId4" Type="http://schemas.openxmlformats.org/officeDocument/2006/relationships/image" Target="../media/image9.d4bF1w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358465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802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900" dirty="0"/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1900" dirty="0"/>
              <a:t>SIH26001</a:t>
            </a:r>
          </a:p>
          <a:p>
            <a:pPr algn="just">
              <a:lnSpc>
                <a:spcPct val="100000"/>
              </a:lnSpc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</a:t>
            </a:r>
            <a:r>
              <a:rPr lang="en-IN" sz="1900" dirty="0"/>
              <a:t>AI-Based early warning and landslide Risk Monitoring System in NER</a:t>
            </a: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1900" dirty="0"/>
              <a:t>Disaster Management</a:t>
            </a: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9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 -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6g’s</a:t>
            </a: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-67789" y="-368061"/>
            <a:ext cx="10972800" cy="822385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0" y="1152391"/>
            <a:ext cx="7280694" cy="57554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1714500" lvl="3" indent="-342900">
              <a:buFont typeface="Wingdings" panose="05000000000000000000" pitchFamily="2" charset="2"/>
              <a:buChar char="v"/>
            </a:pPr>
            <a:r>
              <a:rPr lang="en-US" sz="22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Proposed Solution: </a:t>
            </a:r>
            <a:r>
              <a:rPr lang="en-US" sz="2200" b="1" u="sng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GeoAlert</a:t>
            </a:r>
            <a:r>
              <a:rPr lang="en-US" sz="2200" b="1" u="sng" dirty="0">
                <a:solidFill>
                  <a:schemeClr val="tx2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-NER</a:t>
            </a:r>
          </a:p>
          <a:p>
            <a:pPr lvl="3"/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Zero-Human-Delay Hazard Verification:</a:t>
            </a:r>
            <a:r>
              <a:rPr lang="en-IN" dirty="0"/>
              <a:t> Replaces slow physical inspections by using YOLOv8 Computer Vision to instantly quantify road blockages and severity directly from uploaded photo evidence.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Objective Resource Allocation:</a:t>
            </a:r>
            <a:r>
              <a:rPr lang="en-IN" dirty="0"/>
              <a:t> Eliminates manual emergency dispatch guesswork with an automated priority matrix that sorts rescue operations by real-time risk scores and population vulnerability.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Multi-Layer Spatial Analytics:</a:t>
            </a:r>
            <a:r>
              <a:rPr lang="en-IN" dirty="0"/>
              <a:t> Seamless GIS integration merging live 24h rainfall heatmaps, terrain geometry, soil saturation, and lithology stability directly into a single risk index.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Instant Auto-</a:t>
            </a:r>
            <a:r>
              <a:rPr lang="en-IN" b="1" dirty="0" err="1"/>
              <a:t>Flyto</a:t>
            </a:r>
            <a:r>
              <a:rPr lang="en-IN" b="1" dirty="0"/>
              <a:t> Spatial Targeting:</a:t>
            </a:r>
            <a:r>
              <a:rPr lang="en-IN" dirty="0"/>
              <a:t> One-click spatial navigation that automatically zooms command </a:t>
            </a:r>
            <a:r>
              <a:rPr lang="en-IN" dirty="0" err="1"/>
              <a:t>center</a:t>
            </a:r>
            <a:r>
              <a:rPr lang="en-IN" dirty="0"/>
              <a:t> viewports directly to affected geographical coordinates and critical highway sectors.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Bandwidth-Resilient Closed-Loop Platform:</a:t>
            </a:r>
            <a:r>
              <a:rPr lang="en-IN" dirty="0"/>
              <a:t> Bridges citizen reporting, AI prediction, and NDRF/SDMA dispatch into a unified, lightweight React/</a:t>
            </a:r>
            <a:r>
              <a:rPr lang="en-IN" dirty="0" err="1"/>
              <a:t>FastAPI</a:t>
            </a:r>
            <a:r>
              <a:rPr lang="en-IN" dirty="0"/>
              <a:t> interface engineered specifically for 2G/3G disaster zones.</a:t>
            </a:r>
          </a:p>
          <a:p>
            <a:pPr lvl="0"/>
            <a:endParaRPr lang="en-IN" dirty="0"/>
          </a:p>
          <a:p>
            <a:pPr lvl="0"/>
            <a:endParaRPr lang="en-IN" dirty="0"/>
          </a:p>
          <a:p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6g’s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1D936E8-0DE0-9518-2523-058708790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1" y="1492504"/>
            <a:ext cx="3956049" cy="22373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FF2352-41CB-C2A0-DDD6-6C15A66A03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3966281"/>
            <a:ext cx="3967341" cy="22373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6g’s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C8D98D-76C5-38C6-AECB-69612A6FFD5C}"/>
                  </a:ext>
                </a:extLst>
              </p:cNvPr>
              <p:cNvSpPr txBox="1"/>
              <p:nvPr/>
            </p:nvSpPr>
            <p:spPr>
              <a:xfrm>
                <a:off x="281796" y="1167442"/>
                <a:ext cx="1174814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en-IN" sz="2200" b="1" dirty="0"/>
                  <a:t>Architecture Diagram:</a:t>
                </a:r>
                <a:r>
                  <a:rPr lang="en-IN" dirty="0"/>
                  <a:t> Map out data flow clearly:</a:t>
                </a:r>
              </a:p>
              <a:p>
                <a:pPr lvl="0"/>
                <a:endParaRPr lang="en-IN" dirty="0"/>
              </a:p>
              <a:p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IN"/>
                        <m:t>Field/IMD/Satellite Data</m:t>
                      </m:r>
                      <m:r>
                        <a:rPr lang="en-IN"/>
                        <m:t>⟶</m:t>
                      </m:r>
                      <m:r>
                        <m:rPr>
                          <m:nor/>
                        </m:rPr>
                        <a:rPr lang="en-IN"/>
                        <m:t>FastAPI/Render Backend</m:t>
                      </m:r>
                      <m:r>
                        <a:rPr lang="en-IN"/>
                        <m:t>⟶</m:t>
                      </m:r>
                      <m:r>
                        <m:rPr>
                          <m:nor/>
                        </m:rPr>
                        <a:rPr lang="en-IN"/>
                        <m:t>PostGIS DB</m:t>
                      </m:r>
                      <m:r>
                        <a:rPr lang="en-IN"/>
                        <m:t>⟶</m:t>
                      </m:r>
                      <m:r>
                        <m:rPr>
                          <m:nor/>
                        </m:rPr>
                        <a:rPr lang="en-IN"/>
                        <m:t>React/Vercel Frontend UI</m:t>
                      </m:r>
                    </m:oMath>
                  </m:oMathPara>
                </a14:m>
                <a:endParaRPr lang="en-IN" dirty="0"/>
              </a:p>
              <a:p>
                <a:pPr lvl="0"/>
                <a:endParaRPr lang="en-IN" sz="2200" dirty="0"/>
              </a:p>
              <a:p>
                <a:r>
                  <a:rPr lang="en-IN" sz="2200" b="1" dirty="0"/>
                  <a:t>Technologies Used – 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Frontend:</a:t>
                </a:r>
                <a:r>
                  <a:rPr lang="en-IN" dirty="0"/>
                  <a:t> React.js, Tailwind CSS, Leaflet GIS, OpenStreetMap (Hosted on </a:t>
                </a:r>
                <a:r>
                  <a:rPr lang="en-IN" dirty="0" err="1"/>
                  <a:t>Vercel</a:t>
                </a:r>
                <a:r>
                  <a:rPr lang="en-IN" dirty="0"/>
                  <a:t>)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Backend &amp; API:</a:t>
                </a:r>
                <a:r>
                  <a:rPr lang="en-IN" dirty="0"/>
                  <a:t> Python, </a:t>
                </a:r>
                <a:r>
                  <a:rPr lang="en-IN" dirty="0" err="1"/>
                  <a:t>FastAPI</a:t>
                </a:r>
                <a:r>
                  <a:rPr lang="en-IN" dirty="0"/>
                  <a:t>, REST APIs, </a:t>
                </a:r>
                <a:r>
                  <a:rPr lang="en-IN" dirty="0" err="1"/>
                  <a:t>Uvicorn</a:t>
                </a:r>
                <a:r>
                  <a:rPr lang="en-IN" dirty="0"/>
                  <a:t>, Swagger </a:t>
                </a:r>
                <a:r>
                  <a:rPr lang="en-IN" dirty="0" err="1"/>
                  <a:t>OpenAPI</a:t>
                </a:r>
                <a:r>
                  <a:rPr lang="en-IN" dirty="0"/>
                  <a:t> (Hosted on Render)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AI &amp; Machine Learning:</a:t>
                </a:r>
                <a:r>
                  <a:rPr lang="en-IN" dirty="0"/>
                  <a:t> Scikit-Learn (</a:t>
                </a:r>
                <a:r>
                  <a:rPr lang="en-IN" dirty="0" err="1"/>
                  <a:t>RandomForest</a:t>
                </a:r>
                <a:r>
                  <a:rPr lang="en-IN" dirty="0"/>
                  <a:t>/</a:t>
                </a:r>
                <a:r>
                  <a:rPr lang="en-IN" dirty="0" err="1"/>
                  <a:t>XGBoost</a:t>
                </a:r>
                <a:r>
                  <a:rPr lang="en-IN" dirty="0"/>
                  <a:t>), YOLOv8 (</a:t>
                </a:r>
                <a:r>
                  <a:rPr lang="en-IN" dirty="0" err="1"/>
                  <a:t>Ultralytics</a:t>
                </a:r>
                <a:r>
                  <a:rPr lang="en-IN" dirty="0"/>
                  <a:t>), </a:t>
                </a:r>
                <a:r>
                  <a:rPr lang="en-IN" dirty="0" err="1"/>
                  <a:t>GeoJSON</a:t>
                </a:r>
                <a:r>
                  <a:rPr lang="en-IN" dirty="0"/>
                  <a:t> Spatial Processing</a:t>
                </a:r>
              </a:p>
              <a:p>
                <a:pPr marL="285750" lvl="0" indent="-285750">
                  <a:buFont typeface="Wingdings" panose="05000000000000000000" pitchFamily="2" charset="2"/>
                  <a:buChar char="Ø"/>
                </a:pPr>
                <a:r>
                  <a:rPr lang="en-IN" b="1" dirty="0"/>
                  <a:t>Database &amp; Hosting:</a:t>
                </a:r>
                <a:r>
                  <a:rPr lang="en-IN" dirty="0"/>
                  <a:t> PostgreSQL / Database Schema, </a:t>
                </a:r>
                <a:r>
                  <a:rPr lang="en-IN" dirty="0" err="1"/>
                  <a:t>Vercel</a:t>
                </a:r>
                <a:r>
                  <a:rPr lang="en-IN" dirty="0"/>
                  <a:t>, Render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I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8C8D98D-76C5-38C6-AECB-69612A6FF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796" y="1167442"/>
                <a:ext cx="11748140" cy="3046988"/>
              </a:xfrm>
              <a:prstGeom prst="rect">
                <a:avLst/>
              </a:prstGeom>
              <a:blipFill>
                <a:blip r:embed="rId4"/>
                <a:stretch>
                  <a:fillRect l="-675" t="-140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7FFBA776-152C-DAEA-0A53-DEC3A59C8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1700" y="4066013"/>
            <a:ext cx="3206750" cy="212269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DB9EEB4-4FEC-6F2D-3183-60C1C962FC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8200" y="4053496"/>
            <a:ext cx="3253950" cy="21647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CD6BA69-F782-DC4A-2678-4F72A7BA96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400" y="4053496"/>
            <a:ext cx="4032250" cy="2135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6g’s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FC6F885-595B-D9EF-018B-6D29B7DEED5B}"/>
              </a:ext>
            </a:extLst>
          </p:cNvPr>
          <p:cNvSpPr/>
          <p:nvPr/>
        </p:nvSpPr>
        <p:spPr>
          <a:xfrm>
            <a:off x="799116" y="1413143"/>
            <a:ext cx="2660946" cy="914400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Feasibility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85B8FA5-3FBD-1A17-FD6E-96AA296F3EFE}"/>
              </a:ext>
            </a:extLst>
          </p:cNvPr>
          <p:cNvSpPr/>
          <p:nvPr/>
        </p:nvSpPr>
        <p:spPr>
          <a:xfrm>
            <a:off x="4481121" y="1395245"/>
            <a:ext cx="2769686" cy="9144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Risks and Mitigation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413AD16-8085-6C34-7466-620DFD7A9AF4}"/>
              </a:ext>
            </a:extLst>
          </p:cNvPr>
          <p:cNvSpPr/>
          <p:nvPr/>
        </p:nvSpPr>
        <p:spPr>
          <a:xfrm>
            <a:off x="8180110" y="1343488"/>
            <a:ext cx="2993972" cy="914400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Viability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73CD4A-C6B6-1229-BDDF-933B7A5BA8CD}"/>
              </a:ext>
            </a:extLst>
          </p:cNvPr>
          <p:cNvSpPr/>
          <p:nvPr/>
        </p:nvSpPr>
        <p:spPr>
          <a:xfrm>
            <a:off x="521067" y="2609516"/>
            <a:ext cx="3217045" cy="3709451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r>
              <a:rPr lang="en-IN" sz="1400" b="1" dirty="0"/>
              <a:t>Lightweight Architecture:</a:t>
            </a:r>
            <a:r>
              <a:rPr lang="en-IN" sz="1400" dirty="0"/>
              <a:t> Asynchronous </a:t>
            </a:r>
            <a:r>
              <a:rPr lang="en-IN" sz="1400" dirty="0" err="1"/>
              <a:t>FastAPI</a:t>
            </a:r>
            <a:r>
              <a:rPr lang="en-IN" sz="1400" dirty="0"/>
              <a:t> backend + Leaflet GIS ensures microsecond API response times and ultra-fast tile rendering.</a:t>
            </a:r>
          </a:p>
          <a:p>
            <a:pPr lvl="0"/>
            <a:r>
              <a:rPr lang="en-IN" sz="1400" b="1" dirty="0"/>
              <a:t>Low-Bandwidth Optimization:</a:t>
            </a:r>
            <a:r>
              <a:rPr lang="en-IN" sz="1400" dirty="0"/>
              <a:t> </a:t>
            </a:r>
            <a:r>
              <a:rPr lang="en-IN" sz="1400" dirty="0" err="1"/>
              <a:t>GeoJSON</a:t>
            </a:r>
            <a:r>
              <a:rPr lang="en-IN" sz="1400" dirty="0"/>
              <a:t> payload compression allows smooth operation on weak 2G/3G mobile networks in remote hilly terrains.</a:t>
            </a:r>
          </a:p>
          <a:p>
            <a:pPr lvl="0"/>
            <a:r>
              <a:rPr lang="en-IN" sz="1400" b="1" dirty="0"/>
              <a:t>Zero-Cost Deployment Footprint:</a:t>
            </a:r>
            <a:r>
              <a:rPr lang="en-IN" sz="1400" dirty="0"/>
              <a:t> Scalable cloud deployment on </a:t>
            </a:r>
            <a:r>
              <a:rPr lang="en-IN" sz="1400" dirty="0" err="1"/>
              <a:t>Vercel</a:t>
            </a:r>
            <a:r>
              <a:rPr lang="en-IN" sz="1400" dirty="0"/>
              <a:t> and Render demonstrates immediate operational viability without expensive initial infrastructure.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2A3CF8-A414-F9BA-98CB-A9CC4FDAA80C}"/>
              </a:ext>
            </a:extLst>
          </p:cNvPr>
          <p:cNvSpPr/>
          <p:nvPr/>
        </p:nvSpPr>
        <p:spPr>
          <a:xfrm>
            <a:off x="4152185" y="2609515"/>
            <a:ext cx="3427558" cy="370945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300" b="1" dirty="0"/>
          </a:p>
          <a:p>
            <a:pPr lvl="0"/>
            <a:endParaRPr lang="en-IN" sz="1300" b="1" dirty="0"/>
          </a:p>
          <a:p>
            <a:pPr lvl="0"/>
            <a:r>
              <a:rPr lang="en-IN" sz="1300" b="1" dirty="0"/>
              <a:t>Risk 1: Network Blackouts in Remote Districts</a:t>
            </a:r>
            <a:endParaRPr lang="en-IN" sz="1300" dirty="0"/>
          </a:p>
          <a:p>
            <a:pPr lvl="1"/>
            <a:r>
              <a:rPr lang="en-IN" sz="1300" i="1" dirty="0"/>
              <a:t>Mitigation:</a:t>
            </a:r>
            <a:r>
              <a:rPr lang="en-IN" sz="1300" dirty="0"/>
              <a:t> Progressive Web App (PWA) offline data caching + automated SMS/USSD fallback alerts for field teams.</a:t>
            </a:r>
          </a:p>
          <a:p>
            <a:pPr lvl="0"/>
            <a:r>
              <a:rPr lang="en-IN" sz="1300" b="1" dirty="0"/>
              <a:t>Risk 2: False Citizen Reports &amp; Spam Uploads</a:t>
            </a:r>
            <a:endParaRPr lang="en-IN" sz="1300" dirty="0"/>
          </a:p>
          <a:p>
            <a:pPr lvl="1"/>
            <a:r>
              <a:rPr lang="en-IN" sz="1300" i="1" dirty="0"/>
              <a:t>Mitigation:</a:t>
            </a:r>
            <a:r>
              <a:rPr lang="en-IN" sz="1300" dirty="0"/>
              <a:t> Dual-layer verification requiring YOLOv8 vision AI confidence score (&gt;80%) + one-click local authority validation.</a:t>
            </a:r>
          </a:p>
          <a:p>
            <a:pPr lvl="0"/>
            <a:r>
              <a:rPr lang="en-IN" sz="1300" b="1" dirty="0"/>
              <a:t>Risk 3: Dynamic Weather Sensor Disruption</a:t>
            </a:r>
            <a:endParaRPr lang="en-IN" sz="1300" dirty="0"/>
          </a:p>
          <a:p>
            <a:pPr lvl="1"/>
            <a:r>
              <a:rPr lang="en-IN" sz="1300" i="1" dirty="0"/>
              <a:t>Mitigation:</a:t>
            </a:r>
            <a:r>
              <a:rPr lang="en-IN" sz="1300" dirty="0"/>
              <a:t> Fallback to IMD grid interpolation algorithms when local ground sensors lose power.</a:t>
            </a:r>
          </a:p>
          <a:p>
            <a:pPr algn="ctr"/>
            <a:endParaRPr lang="en-IN" sz="13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C489F3A-12B2-8665-A734-38FE82C133EF}"/>
              </a:ext>
            </a:extLst>
          </p:cNvPr>
          <p:cNvSpPr/>
          <p:nvPr/>
        </p:nvSpPr>
        <p:spPr>
          <a:xfrm>
            <a:off x="7990328" y="2609516"/>
            <a:ext cx="3373536" cy="370945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lvl="0"/>
            <a:endParaRPr lang="en-IN" sz="1400" b="1" dirty="0"/>
          </a:p>
          <a:p>
            <a:pPr lvl="0"/>
            <a:r>
              <a:rPr lang="en-IN" sz="1400" b="1" dirty="0"/>
              <a:t>Modular Scale:</a:t>
            </a:r>
            <a:r>
              <a:rPr lang="en-IN" sz="1400" dirty="0"/>
              <a:t> Plug-and-play architecture allows seamless extension beyond NER to other landslide-prone regions (e.g., Western Ghats, Uttarakhand).</a:t>
            </a:r>
          </a:p>
          <a:p>
            <a:pPr lvl="0"/>
            <a:r>
              <a:rPr lang="en-IN" sz="1400" b="1" dirty="0"/>
              <a:t>Government Integration Ready:</a:t>
            </a:r>
            <a:r>
              <a:rPr lang="en-IN" sz="1400" dirty="0"/>
              <a:t> Designed for direct API integration into existing SDMA (State Disaster Management Authority) and NDRF dispatch workflows.</a:t>
            </a:r>
          </a:p>
          <a:p>
            <a:pPr lvl="0"/>
            <a:r>
              <a:rPr lang="en-IN" sz="1400" b="1" dirty="0"/>
              <a:t>High ROI / Low Maintenance:</a:t>
            </a:r>
            <a:r>
              <a:rPr lang="en-IN" sz="1400" dirty="0"/>
              <a:t> Open-source core stack (React, Python, OpenStreetMap) eliminates recurring software licensing fees for state disaster agencies.</a:t>
            </a:r>
          </a:p>
          <a:p>
            <a:pPr algn="ctr"/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6g’s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ECE6AEC-D1D2-F600-C0E6-697F66B13EA2}"/>
              </a:ext>
            </a:extLst>
          </p:cNvPr>
          <p:cNvSpPr txBox="1"/>
          <p:nvPr/>
        </p:nvSpPr>
        <p:spPr>
          <a:xfrm>
            <a:off x="833886" y="1395246"/>
            <a:ext cx="5262114" cy="42934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100" b="1" dirty="0"/>
              <a:t>1. Direct Human &amp; Operational Impact</a:t>
            </a:r>
            <a:endParaRPr lang="en-IN" sz="2100" dirty="0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Reduced Emergency Response Latency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Proactive Evacuation Window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Elimination of Field Verification Bottlenecks</a:t>
            </a:r>
          </a:p>
          <a:p>
            <a:pPr lvl="0"/>
            <a:endParaRPr lang="en-IN" sz="2100" dirty="0"/>
          </a:p>
          <a:p>
            <a:r>
              <a:rPr lang="en-IN" sz="2100" b="1" dirty="0"/>
              <a:t>2. Socio-Economic Value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Protection of Strategic Lifelines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Casualty Rate Reduction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Zero Software Licensing Overhead</a:t>
            </a:r>
          </a:p>
          <a:p>
            <a:pPr lvl="0"/>
            <a:endParaRPr lang="en-IN" sz="2100" dirty="0"/>
          </a:p>
          <a:p>
            <a:r>
              <a:rPr lang="en-IN" sz="2100" b="1" dirty="0"/>
              <a:t>3. Technical Performance Impact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Bandwidth-Resilient Field Delivery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2100" dirty="0"/>
              <a:t>Unified Emergency Ecosystem</a:t>
            </a:r>
          </a:p>
        </p:txBody>
      </p:sp>
      <p:pic>
        <p:nvPicPr>
          <p:cNvPr id="3" name="Picture 2" descr="An NDRF disaster management rescue vehicle navigating a mountain road in a rainy hilly terrain, digital HUD overlay showing GPS route guidance, priority queue ranking, risk score 88/100, blue and amber ambient light, realistic, cinematic photo.">
            <a:extLst>
              <a:ext uri="{FF2B5EF4-FFF2-40B4-BE49-F238E27FC236}">
                <a16:creationId xmlns:a16="http://schemas.microsoft.com/office/drawing/2014/main" id="{1D706DDF-C898-27E9-3061-943B23B930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5859" y="1249094"/>
            <a:ext cx="3508073" cy="2338715"/>
          </a:xfrm>
          <a:prstGeom prst="rect">
            <a:avLst/>
          </a:prstGeom>
        </p:spPr>
      </p:pic>
      <p:pic>
        <p:nvPicPr>
          <p:cNvPr id="4" name="Picture 3" descr="A field responder's hand holding a smartphone on a misty, rainy mountain road in North East India. The phone screen displays a fast-loading, clean mobile web interface with a vector map of highway corridors, live disaster alert badges, and a &quot;2G Low-Bandwidth Mode Active&quot; indicator, dramatic cinematic lighting, photorealistic">
            <a:extLst>
              <a:ext uri="{FF2B5EF4-FFF2-40B4-BE49-F238E27FC236}">
                <a16:creationId xmlns:a16="http://schemas.microsoft.com/office/drawing/2014/main" id="{0EBEDBB3-8C38-6C71-9471-58C3444AFB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5859" y="3826497"/>
            <a:ext cx="3508074" cy="233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6g’s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A02627F-ED14-7C78-179D-1D685E23C3FB}"/>
              </a:ext>
            </a:extLst>
          </p:cNvPr>
          <p:cNvSpPr txBox="1"/>
          <p:nvPr/>
        </p:nvSpPr>
        <p:spPr>
          <a:xfrm>
            <a:off x="1125268" y="1359451"/>
            <a:ext cx="9034732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/>
              <a:t>References &amp; Research Framework</a:t>
            </a:r>
            <a:endParaRPr lang="en-IN" sz="2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GSI NLSM Guidelines:</a:t>
            </a:r>
            <a:r>
              <a:rPr lang="en-IN" dirty="0"/>
              <a:t> Defined geological parameters (slope, elevation, lithology) used to weight our ML risk model.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NDMA Guidelines:</a:t>
            </a:r>
            <a:r>
              <a:rPr lang="en-IN" dirty="0"/>
              <a:t> Guided our automated priority queueing, warning thresholds, and emergency evacuation protocols.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IMD Rainfall Datasets:</a:t>
            </a:r>
            <a:r>
              <a:rPr lang="en-IN" dirty="0"/>
              <a:t> Provided the baseline precipitation framework for dynamic 24h rainfall heatmaps in NER.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/>
              <a:t>OpenStreetMap &amp; Leaflet.js:</a:t>
            </a:r>
            <a:r>
              <a:rPr lang="en-IN" dirty="0"/>
              <a:t> Enabled lightweight, interactive GIS map rendering on our React frontend (hosted on </a:t>
            </a:r>
            <a:r>
              <a:rPr lang="en-IN" b="1" dirty="0" err="1"/>
              <a:t>Vercel</a:t>
            </a:r>
            <a:r>
              <a:rPr lang="en-IN" dirty="0"/>
              <a:t>: https://sih-landslide-system-rho.vercel.app/).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 err="1"/>
              <a:t>Ultralytics</a:t>
            </a:r>
            <a:r>
              <a:rPr lang="en-IN" b="1" dirty="0"/>
              <a:t> YOLOv8:</a:t>
            </a:r>
            <a:r>
              <a:rPr lang="en-IN" dirty="0"/>
              <a:t> Used to construct our vision AI pipeline for real-time blockage detection and severity scoring.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en-IN" b="1" dirty="0" err="1"/>
              <a:t>FastAPI</a:t>
            </a:r>
            <a:r>
              <a:rPr lang="en-IN" b="1" dirty="0"/>
              <a:t> &amp; </a:t>
            </a:r>
            <a:r>
              <a:rPr lang="en-IN" b="1" dirty="0" err="1"/>
              <a:t>OpenAPI</a:t>
            </a:r>
            <a:r>
              <a:rPr lang="en-IN" b="1" dirty="0"/>
              <a:t> 3.1:</a:t>
            </a:r>
            <a:r>
              <a:rPr lang="en-IN" dirty="0"/>
              <a:t> Provided high-concurrency microservices and live interactive documentation (hosted on </a:t>
            </a:r>
            <a:r>
              <a:rPr lang="en-IN" b="1" dirty="0"/>
              <a:t>Render</a:t>
            </a:r>
            <a:r>
              <a:rPr lang="en-IN" dirty="0"/>
              <a:t>: https://sih-landslide-system.onrender.com/docs).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8111</TotalTime>
  <Words>880</Words>
  <Application>Microsoft Office PowerPoint</Application>
  <PresentationFormat>Widescreen</PresentationFormat>
  <Paragraphs>105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SiriValli Vanchanagiri</cp:lastModifiedBy>
  <cp:revision>152</cp:revision>
  <dcterms:created xsi:type="dcterms:W3CDTF">2013-12-12T18:46:50Z</dcterms:created>
  <dcterms:modified xsi:type="dcterms:W3CDTF">2026-08-29T14:17:06Z</dcterms:modified>
  <cp:category/>
</cp:coreProperties>
</file>